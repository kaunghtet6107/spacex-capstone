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2" r:id="rId7"/>
    <p:sldId id="261" r:id="rId8"/>
    <p:sldId id="260" r:id="rId9"/>
    <p:sldId id="266" r:id="rId10"/>
    <p:sldId id="265" r:id="rId11"/>
    <p:sldId id="264" r:id="rId12"/>
    <p:sldId id="269" r:id="rId13"/>
    <p:sldId id="268" r:id="rId14"/>
    <p:sldId id="267" r:id="rId15"/>
    <p:sldId id="270" r:id="rId16"/>
  </p:sldIdLst>
  <p:sldSz cx="12192000" cy="6858000"/>
  <p:notesSz cx="6858000" cy="9144000"/>
  <p:defaultTextStyle>
    <a:defPPr>
      <a:defRPr lang="en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66"/>
  </p:normalViewPr>
  <p:slideViewPr>
    <p:cSldViewPr snapToGrid="0">
      <p:cViewPr varScale="1">
        <p:scale>
          <a:sx n="102" d="100"/>
          <a:sy n="102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9B89F-0E4F-9A30-90F9-C7C3CB2C8C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4D3DB2-FD74-7864-8B25-BA2835F39F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639B0-4E7D-35B1-CCEF-E1B7178CD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BBA85-7293-2F4B-9AA6-95B1D3527B50}" type="datetimeFigureOut">
              <a:rPr lang="en-JP" smtClean="0"/>
              <a:t>2026/09/13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F6558-CAF3-CB75-4E0F-70770B449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71E67-A034-AEB7-4058-C2F802DD2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79E3C-12AC-1B43-A076-AD97D7E5753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668450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06C0C-CC88-D7A7-87E5-5102398C1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B6DAF-ECEA-FF1B-81E8-06EEAFA6A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DB79D-3EDF-6403-C880-396DF7D9D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BBA85-7293-2F4B-9AA6-95B1D3527B50}" type="datetimeFigureOut">
              <a:rPr lang="en-JP" smtClean="0"/>
              <a:t>2026/09/13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4F6935-1DE6-AD0F-B8CA-A550F51ED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DA7A6-9158-349A-043C-F45B4D81F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79E3C-12AC-1B43-A076-AD97D7E5753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877335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6D387-7BF2-6561-198E-DE70F75DF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86886-4375-C625-6C82-F9061D14C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F4189A-3A7C-6F5A-C93F-846981CED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BBA85-7293-2F4B-9AA6-95B1D3527B50}" type="datetimeFigureOut">
              <a:rPr lang="en-JP" smtClean="0"/>
              <a:t>2026/09/13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E5D13-5902-C927-0E14-33539B0CD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A7164-37DF-90F8-EC55-7FD910F4B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79E3C-12AC-1B43-A076-AD97D7E5753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846373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B20C0-429F-7EB0-6DC2-301F778E9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7A051-45A1-BE61-C3B7-B563A8B84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0C9425-493A-4341-1110-3ACF363B5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269B66-9837-1B02-D6E9-E646D60C5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BBA85-7293-2F4B-9AA6-95B1D3527B50}" type="datetimeFigureOut">
              <a:rPr lang="en-JP" smtClean="0"/>
              <a:t>2026/09/13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637B12-2D51-EB45-BBCF-247915914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CA5B34-EBCB-05AB-E7C3-64B682693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79E3C-12AC-1B43-A076-AD97D7E5753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825025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F88E3-6B7C-02E2-A674-A6D602C80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C18A2F-6790-52DF-01D8-3A8133810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1E80C8-9CA1-844D-0439-10D62FC09C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D4C0C7-6122-D972-178A-C1172EBC72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EAAAA7-E9B4-071B-A9DE-344C273D1C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601BD8-102C-261B-BCE8-187770369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BBA85-7293-2F4B-9AA6-95B1D3527B50}" type="datetimeFigureOut">
              <a:rPr lang="en-JP" smtClean="0"/>
              <a:t>2026/09/13</a:t>
            </a:fld>
            <a:endParaRPr lang="en-J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CEF0A5-8479-EFE8-ACC5-BE8B1C7E2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0A674E-C4F0-3299-2F36-9C2A1A525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79E3C-12AC-1B43-A076-AD97D7E5753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258795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DDAB3-D05F-2B8E-5A2A-3117504AA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DFC590-AEC6-A42E-7243-07E7E78E5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BBA85-7293-2F4B-9AA6-95B1D3527B50}" type="datetimeFigureOut">
              <a:rPr lang="en-JP" smtClean="0"/>
              <a:t>2026/09/13</a:t>
            </a:fld>
            <a:endParaRPr lang="en-J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8CB3BB-1076-5AEE-2638-DF2FCEB28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9F64C7-35E8-005F-34FA-530444A96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79E3C-12AC-1B43-A076-AD97D7E5753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090205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06340E-FBD3-2940-192F-BE09B1CFF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BBA85-7293-2F4B-9AA6-95B1D3527B50}" type="datetimeFigureOut">
              <a:rPr lang="en-JP" smtClean="0"/>
              <a:t>2026/09/13</a:t>
            </a:fld>
            <a:endParaRPr lang="en-J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94DCC6-A18E-016A-9EDF-9B7C989F9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7C474D-8299-D628-3E05-D8B4234B1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79E3C-12AC-1B43-A076-AD97D7E5753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146117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58371-479B-76CB-E5DC-FAB67815C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B640F-30B6-AFF8-63CF-1A5912E2D1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263F22-9282-774F-6E33-D49874647B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925603-CC1E-3249-FCB7-66A270940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BBA85-7293-2F4B-9AA6-95B1D3527B50}" type="datetimeFigureOut">
              <a:rPr lang="en-JP" smtClean="0"/>
              <a:t>2026/09/13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0DBD41-DB69-A36B-441F-849D33E1A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17D95D-A21C-3CFB-7802-A63C83F2C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79E3C-12AC-1B43-A076-AD97D7E5753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650022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F50D4-0250-9186-6542-3142F3130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5371F4-BE5D-4052-1D0F-F566FEFF27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FDB502-3330-3B77-1379-A031F54D9B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508262-07A5-636A-52EC-0B31CE86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BBA85-7293-2F4B-9AA6-95B1D3527B50}" type="datetimeFigureOut">
              <a:rPr lang="en-JP" smtClean="0"/>
              <a:t>2026/09/13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49D6E7-0419-B799-567D-A24792D8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97D0D1-866C-6B6A-8A03-BB806BCC8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79E3C-12AC-1B43-A076-AD97D7E5753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327777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13FB-BC46-4B73-D58E-444CC92D6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968D41-E732-7E52-8C33-9817093564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E904A-955A-F5BC-81D9-3F1AAA4A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BBA85-7293-2F4B-9AA6-95B1D3527B50}" type="datetimeFigureOut">
              <a:rPr lang="en-JP" smtClean="0"/>
              <a:t>2026/09/13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D8796-2CEB-C31F-45DB-8288F0EFC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8DA6F-5360-7CF0-AC92-031A9C9F7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79E3C-12AC-1B43-A076-AD97D7E5753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07651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459707-9B48-EC3E-27B1-2BC58299CA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DA47E1-1476-7B8E-9D80-298F63253A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ADB78-AA76-FB4F-677F-23553E12C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BBA85-7293-2F4B-9AA6-95B1D3527B50}" type="datetimeFigureOut">
              <a:rPr lang="en-JP" smtClean="0"/>
              <a:t>2026/09/13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F4E3F-6251-0DA7-E5B6-A7D7A9073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195BB-B292-0518-DADD-5278AA84C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79E3C-12AC-1B43-A076-AD97D7E5753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131108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06ABA5-D67E-1CC9-9EDC-E96AD50D3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53598D-3617-9E41-F3E9-22C5DAB137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E5869-9A36-61A1-0B7D-FEF6D6EC6A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1BBA85-7293-2F4B-9AA6-95B1D3527B50}" type="datetimeFigureOut">
              <a:rPr lang="en-JP" smtClean="0"/>
              <a:t>2026/09/13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51EF69-3B33-C5FE-481B-75BA3DA46B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4704C-5BB2-5867-0A55-AABF55576A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A79E3C-12AC-1B43-A076-AD97D7E5753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132004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J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aungHtet6107/SpaceX-Capston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7415A-0579-665C-01BE-9BF5366222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SpaceX Falcon 9 First Stage Landing Prediction</a:t>
            </a:r>
            <a:endParaRPr lang="en-JP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0E9256-6C6A-31E4-5F97-488F793E4A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IBM Data Science Capstone</a:t>
            </a:r>
          </a:p>
          <a:p>
            <a:r>
              <a:rPr lang="en-US" dirty="0"/>
              <a:t>Kaung </a:t>
            </a:r>
            <a:r>
              <a:rPr lang="en-US" dirty="0" err="1"/>
              <a:t>Htet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3390138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0926B-21C4-463F-B4B1-B74E9D7B8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</a:t>
            </a:r>
            <a:endParaRPr lang="en-J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8038F-9FC4-C590-DD25-4C88EC92F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Goal: predict whether Falcon 9's first stage will land successfully </a:t>
            </a:r>
          </a:p>
          <a:p>
            <a:r>
              <a:rPr lang="en-US" dirty="0"/>
              <a:t>Data collected from SpaceX API and Wikipedia </a:t>
            </a:r>
          </a:p>
          <a:p>
            <a:r>
              <a:rPr lang="en-US" dirty="0"/>
              <a:t>EDA performed using Python, SQL, and Folium </a:t>
            </a:r>
          </a:p>
          <a:p>
            <a:r>
              <a:rPr lang="en-US" dirty="0"/>
              <a:t>Interactive dashboard created with </a:t>
            </a:r>
            <a:r>
              <a:rPr lang="en-US" dirty="0" err="1"/>
              <a:t>Plotly</a:t>
            </a:r>
            <a:r>
              <a:rPr lang="en-US" dirty="0"/>
              <a:t> Dash </a:t>
            </a:r>
          </a:p>
          <a:p>
            <a:r>
              <a:rPr lang="en-US" dirty="0"/>
              <a:t>Machine-learning models compared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2400375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D6F20-4903-6ACA-4484-6D36FC424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J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44AED-15E0-2AE1-32DD-E96C3DDAC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first-stage landing matters </a:t>
            </a:r>
          </a:p>
          <a:p>
            <a:r>
              <a:rPr lang="en-US" dirty="0"/>
              <a:t>Successful landing reduces launch cost </a:t>
            </a:r>
          </a:p>
          <a:p>
            <a:r>
              <a:rPr lang="en-US" dirty="0"/>
              <a:t>Objective: identify factors related to landing success and build a prediction model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3008866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6A9E2-F3F8-9DA6-1BF0-5483C9F87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Collection</a:t>
            </a:r>
            <a:endParaRPr lang="en-J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60292-2362-ECC6-26E0-B9C66C9ED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SpaceX API </a:t>
            </a:r>
          </a:p>
          <a:p>
            <a:r>
              <a:rPr lang="en-US" dirty="0"/>
              <a:t>Wikipedia launch-history data </a:t>
            </a:r>
          </a:p>
          <a:p>
            <a:r>
              <a:rPr lang="en-US" dirty="0"/>
              <a:t>Number of Falcon 9 records </a:t>
            </a:r>
          </a:p>
          <a:p>
            <a:r>
              <a:rPr lang="en-US" dirty="0"/>
              <a:t>Important variables: payload, orbit, launch site, booster version, landing outcome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671402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11512-416E-6C35-8FCE-3D2E83270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Wrangling</a:t>
            </a:r>
            <a:endParaRPr lang="en-J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BD75F-4EB0-DA49-B366-A30111EC7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Removed unnecessary/missing data </a:t>
            </a:r>
          </a:p>
          <a:p>
            <a:r>
              <a:rPr lang="en-US" dirty="0"/>
              <a:t>Converted landing outcomes into Class </a:t>
            </a:r>
          </a:p>
          <a:p>
            <a:r>
              <a:rPr lang="en-US" dirty="0"/>
              <a:t>1 = successful landing </a:t>
            </a:r>
          </a:p>
          <a:p>
            <a:r>
              <a:rPr lang="en-US" dirty="0"/>
              <a:t>0 = unsuccessful landing </a:t>
            </a:r>
          </a:p>
          <a:p>
            <a:r>
              <a:rPr lang="en-US" dirty="0"/>
              <a:t>One-hot encoded categorical features </a:t>
            </a:r>
          </a:p>
          <a:p>
            <a:r>
              <a:rPr lang="en-US" dirty="0"/>
              <a:t>Standardized ML features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845455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6A735-86B0-C6A4-0F7E-84632B267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Methodology</a:t>
            </a:r>
            <a:endParaRPr lang="en-J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98D16-5168-03F6-52CC-820EE9859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Pandas </a:t>
            </a:r>
          </a:p>
          <a:p>
            <a:r>
              <a:rPr lang="en-US" dirty="0"/>
              <a:t>Matplotlib </a:t>
            </a:r>
          </a:p>
          <a:p>
            <a:r>
              <a:rPr lang="en-US" dirty="0"/>
              <a:t>Seaborn </a:t>
            </a:r>
          </a:p>
          <a:p>
            <a:r>
              <a:rPr lang="en-US" dirty="0"/>
              <a:t>Compared flight number, payload, orbit, launch site, and success rate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2892485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917F9-7998-461E-845E-0597D98EA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Results</a:t>
            </a:r>
            <a:endParaRPr lang="en-J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E1A6B-2116-AF8B-79E5-3A6B23130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Success rate generally increased over the years </a:t>
            </a:r>
          </a:p>
          <a:p>
            <a:r>
              <a:rPr lang="en-US" dirty="0"/>
              <a:t>Later flights generally had better landing outcomes </a:t>
            </a:r>
          </a:p>
          <a:p>
            <a:r>
              <a:rPr lang="en-US" dirty="0"/>
              <a:t>Show your </a:t>
            </a:r>
            <a:r>
              <a:rPr lang="en-US" b="1" dirty="0"/>
              <a:t>Payload Mass vs Flight Number</a:t>
            </a:r>
            <a:r>
              <a:rPr lang="en-US" dirty="0"/>
              <a:t> chart </a:t>
            </a:r>
          </a:p>
          <a:p>
            <a:r>
              <a:rPr lang="en-US" dirty="0"/>
              <a:t>Show your </a:t>
            </a:r>
            <a:r>
              <a:rPr lang="en-US" b="1" dirty="0"/>
              <a:t>Success Rate by Orbit</a:t>
            </a:r>
            <a:r>
              <a:rPr lang="en-US" dirty="0"/>
              <a:t> chart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2620212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C442F-04BC-F2E1-F0A4-82D155D20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Analysis</a:t>
            </a:r>
            <a:endParaRPr lang="en-J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FD691-47BD-5CAF-6ACF-3DD261329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Include important SQL findings: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Unique launch sites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NASA payload mass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Average payload for F9 v1.1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Landing outcomes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Maximum payload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2015 failed drone-ship landings</a:t>
            </a:r>
          </a:p>
          <a:p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1862543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C5F6C-2BF8-3F78-06EB-91B16D633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Folium Interactive Map</a:t>
            </a:r>
            <a:endParaRPr lang="en-J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95BB5-4F80-0F10-AB2E-5366228E9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Launch locations </a:t>
            </a:r>
          </a:p>
          <a:p>
            <a:r>
              <a:rPr lang="en-US" dirty="0"/>
              <a:t>Successful vs unsuccessful launches </a:t>
            </a:r>
          </a:p>
          <a:p>
            <a:r>
              <a:rPr lang="en-US" dirty="0"/>
              <a:t>Marker clusters </a:t>
            </a:r>
          </a:p>
          <a:p>
            <a:r>
              <a:rPr lang="en-US" dirty="0"/>
              <a:t>Distance from launch site to coastline </a:t>
            </a:r>
          </a:p>
          <a:p>
            <a:r>
              <a:rPr lang="en-US" dirty="0"/>
              <a:t>Explain why launch sites are located near coastlines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2900874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DC9B5-D095-B5FC-2FC5-9E5B00380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Plotly</a:t>
            </a:r>
            <a:r>
              <a:rPr lang="en-US" dirty="0"/>
              <a:t> Dash Dashboard</a:t>
            </a:r>
            <a:endParaRPr lang="en-J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4B826-35FC-6501-0EEE-00ED49385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Show screenshots of your dashboard: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Launch Site dropdown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Success/failure pie chart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Payload Range slider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Payload vs landing outcome scatter plot </a:t>
            </a:r>
          </a:p>
          <a:p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62211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8CC0B-DAED-7E4F-BAD5-DB85FDE3B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Predictive Analysis Methodology</a:t>
            </a:r>
            <a:endParaRPr lang="en-J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F2B45-004B-D128-96E3-3F22FA8B6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Models tested: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Logistic Regression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Support Vector Machine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Decision Tree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K-Nearest Neighbors </a:t>
            </a:r>
          </a:p>
          <a:p>
            <a:pPr marL="0" indent="0">
              <a:buNone/>
            </a:pPr>
            <a:r>
              <a:rPr lang="en-US" dirty="0"/>
              <a:t>Explain: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Train/test split = </a:t>
            </a:r>
            <a:r>
              <a:rPr lang="en-US" b="1" dirty="0"/>
              <a:t>80/20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Test samples = </a:t>
            </a:r>
            <a:r>
              <a:rPr lang="en-US" b="1" dirty="0"/>
              <a:t>18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GridSearchCV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cv=10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Hyperparameter tuning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3408904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44E49-D5EE-83C0-54CB-640013559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Predictive Analysis Results</a:t>
            </a:r>
            <a:endParaRPr lang="en-JP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896DC80-8E48-B995-4A61-4FBC2CA91B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4133118"/>
              </p:ext>
            </p:extLst>
          </p:nvPr>
        </p:nvGraphicFramePr>
        <p:xfrm>
          <a:off x="838200" y="1825625"/>
          <a:ext cx="1051559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85397441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80965240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128441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JP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JP" dirty="0"/>
                        <a:t>Validation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JP" dirty="0"/>
                        <a:t>Test 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9186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JP" dirty="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JP" dirty="0"/>
                        <a:t>0.8333333333333334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83.33%</a:t>
                      </a:r>
                      <a:endParaRPr lang="en-J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0492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JP" dirty="0"/>
                        <a:t>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JP" dirty="0"/>
                        <a:t>0.8333333333333334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83.33%</a:t>
                      </a:r>
                      <a:endParaRPr lang="en-J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09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JP" dirty="0"/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JP" dirty="0"/>
                        <a:t>0.8333333333333334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83.33%</a:t>
                      </a:r>
                      <a:endParaRPr lang="en-J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5222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JP" dirty="0"/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JP" dirty="0"/>
                        <a:t>0.8333333333333334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83.33%</a:t>
                      </a:r>
                      <a:endParaRPr lang="en-J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71354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9676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7699B-3909-7F55-D196-236EE7A03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Innovative Insights</a:t>
            </a:r>
            <a:endParaRPr lang="en-J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ABBAB-6D3A-0FDF-AA0C-5E5010F8B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Landing success improved as SpaceX gained more flight experience.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Launch site and orbit appear to influence landing outcomes.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Payload mass alone does not determine landing success.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Reusable booster technology becomes increasingly important in later flights.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Historical launch data can be used to support future landing predictions. </a:t>
            </a:r>
          </a:p>
        </p:txBody>
      </p:sp>
    </p:spTree>
    <p:extLst>
      <p:ext uri="{BB962C8B-B14F-4D97-AF65-F5344CB8AC3E}">
        <p14:creationId xmlns:p14="http://schemas.microsoft.com/office/powerpoint/2010/main" val="506178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3C5B6-2AA9-794C-82CB-F78768FB5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J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DBAF7-5688-35EB-F745-5C960359F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Summarize the major findings </a:t>
            </a:r>
          </a:p>
          <a:p>
            <a:r>
              <a:rPr lang="en-US" dirty="0"/>
              <a:t>State which ML model performed best </a:t>
            </a:r>
          </a:p>
          <a:p>
            <a:r>
              <a:rPr lang="en-US" dirty="0"/>
              <a:t>Explain how the analysis could help evaluate future Falcon 9 launches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35437304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AB803-12FA-AC6A-938C-86DC35036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</a:t>
            </a:r>
            <a:endParaRPr lang="en-J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90250-10EE-9903-D462-E1CD0839BA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github.com</a:t>
            </a:r>
            <a:r>
              <a:rPr lang="en-US" dirty="0">
                <a:hlinkClick r:id="rId2"/>
              </a:rPr>
              <a:t>/KaungHtet6107/SpaceX-Capstone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323762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399</Words>
  <Application>Microsoft Macintosh PowerPoint</Application>
  <PresentationFormat>Widescreen</PresentationFormat>
  <Paragraphs>95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SpaceX Falcon 9 First Stage Landing Prediction</vt:lpstr>
      <vt:lpstr>Executive Summary</vt:lpstr>
      <vt:lpstr>Introduction</vt:lpstr>
      <vt:lpstr>Data Collection</vt:lpstr>
      <vt:lpstr>Data Wrangling</vt:lpstr>
      <vt:lpstr>EDA Methodology</vt:lpstr>
      <vt:lpstr>EDA Results</vt:lpstr>
      <vt:lpstr>SQL Analysis</vt:lpstr>
      <vt:lpstr>Folium Interactive Map</vt:lpstr>
      <vt:lpstr>Plotly Dash Dashboard</vt:lpstr>
      <vt:lpstr>Predictive Analysis Methodology</vt:lpstr>
      <vt:lpstr>Predictive Analysis Results</vt:lpstr>
      <vt:lpstr>Innovative Insights</vt:lpstr>
      <vt:lpstr>Conclusion</vt:lpstr>
      <vt:lpstr>GitHub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SpaceX Falcon 9 First Stage Landing Prediction</dc:title>
  <dc:creator>Microsoft Office User</dc:creator>
  <cp:lastModifiedBy>Microsoft Office User</cp:lastModifiedBy>
  <cp:revision>1</cp:revision>
  <dcterms:created xsi:type="dcterms:W3CDTF">2026-09-13T13:35:29Z</dcterms:created>
  <dcterms:modified xsi:type="dcterms:W3CDTF">2026-09-13T14:37:50Z</dcterms:modified>
</cp:coreProperties>
</file>